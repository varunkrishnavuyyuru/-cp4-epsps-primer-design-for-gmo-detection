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70" r:id="rId14"/>
    <p:sldId id="268" r:id="rId15"/>
    <p:sldId id="269" r:id="rId16"/>
    <p:sldId id="266" r:id="rId17"/>
    <p:sldId id="267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9235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C4FE3-696D-2DD3-12CD-D4B48BB4A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D032F-0972-616E-705F-3E2732A901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5F432-31B9-5421-9D77-E006306BA6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499041-BB41-E048-D958-B51D779F0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529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1248156"/>
            <a:ext cx="4572000" cy="3895344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Shape 2"/>
          <p:cNvSpPr/>
          <p:nvPr/>
        </p:nvSpPr>
        <p:spPr>
          <a:xfrm>
            <a:off x="4434840" y="0"/>
            <a:ext cx="640080" cy="51435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248156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</a:rPr>
              <a:t>Primer Design for Detection of</a:t>
            </a:r>
            <a:endParaRPr lang="en-US" sz="3200" dirty="0"/>
          </a:p>
          <a:p>
            <a:r>
              <a:rPr lang="en-US" sz="3200" b="1" dirty="0">
                <a:solidFill>
                  <a:srgbClr val="FFFFFF"/>
                </a:solidFill>
              </a:rPr>
              <a:t>Glyphosate-Resistant EPSPS Gene</a:t>
            </a:r>
            <a:endParaRPr lang="en-US" sz="3200" dirty="0"/>
          </a:p>
          <a:p>
            <a:r>
              <a:rPr lang="en-US" sz="3200" b="1" dirty="0">
                <a:solidFill>
                  <a:srgbClr val="FFFFFF"/>
                </a:solidFill>
              </a:rPr>
              <a:t>in Genetically Modified Crops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Glyphosate-Resistant EPSPS Gene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</a:rPr>
              <a:t>Identification Using Bioinformatics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828800" cy="34747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434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AB209952.1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23160" y="448056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Glycine max  ·  CP4-EPSPS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37960" y="1291590"/>
            <a:ext cx="2560320" cy="2560320"/>
          </a:xfrm>
          <a:prstGeom prst="ellipse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2</a:t>
            </a:r>
            <a:r>
              <a:rPr lang="en-IN" sz="1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 241FA14055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241FA14057</a:t>
            </a:r>
          </a:p>
        </p:txBody>
      </p:sp>
      <p:sp>
        <p:nvSpPr>
          <p:cNvPr id="12" name="Shape 10"/>
          <p:cNvSpPr/>
          <p:nvPr/>
        </p:nvSpPr>
        <p:spPr>
          <a:xfrm>
            <a:off x="5074920" y="2985516"/>
            <a:ext cx="1645920" cy="1645920"/>
          </a:xfrm>
          <a:prstGeom prst="ellipse">
            <a:avLst/>
          </a:prstGeom>
          <a:solidFill>
            <a:srgbClr val="F28C78">
              <a:alpha val="35000"/>
            </a:srgbClr>
          </a:solidFill>
          <a:ln w="12700">
            <a:solidFill>
              <a:srgbClr val="F28C78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to : 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Prof.Arun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463040"/>
            <a:ext cx="54864" cy="34747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1965960"/>
            <a:ext cx="54864" cy="34747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2468880"/>
            <a:ext cx="54864" cy="34747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4800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</a:rPr>
              <a:t>Department of </a:t>
            </a:r>
            <a:r>
              <a:rPr lang="en-US" sz="900" dirty="0" err="1">
                <a:solidFill>
                  <a:srgbClr val="6C757D"/>
                </a:solidFill>
              </a:rPr>
              <a:t>BioInformatics</a:t>
            </a:r>
            <a:r>
              <a:rPr lang="en-US" sz="900" dirty="0">
                <a:solidFill>
                  <a:srgbClr val="6C757D"/>
                </a:solidFill>
              </a:rPr>
              <a:t>  ·  Genetic engineering</a:t>
            </a:r>
            <a:endParaRPr lang="en-US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3A792-11C8-6056-5EE8-0B2C92FF94AF}"/>
              </a:ext>
            </a:extLst>
          </p:cNvPr>
          <p:cNvSpPr txBox="1"/>
          <p:nvPr/>
        </p:nvSpPr>
        <p:spPr>
          <a:xfrm>
            <a:off x="5113606" y="109835"/>
            <a:ext cx="3351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 PROJECT</a:t>
            </a:r>
            <a:endParaRPr lang="en-IN" sz="24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"/>
            <a:ext cx="9144000" cy="18288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Introduction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</a:rPr>
              <a:t>Genetically Modified Crops &amp; the Need for Detection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43000"/>
            <a:ext cx="2743200" cy="50292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1887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33A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6968" y="12070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What are GM Crops?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Crops modified through recombinant DNA technology to express novel traits such as herbicide tolerance, insect resistance, or improved yield.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64408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1143000"/>
            <a:ext cx="2743200" cy="50292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1887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33A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31336" y="12070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Global Scale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01568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Over 190 million hectares planted globally. Key crops: soybean (58%), maize (27%), cotton (12%), canola (5%) — all commonly carry the CP4-EPSPS gene.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08776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08776" y="1143000"/>
            <a:ext cx="2743200" cy="50292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18872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33A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75704" y="12070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Why Detection Matters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45936" y="178308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Mandatory GMO labeling laws in 60+ countries. Molecular PCR-based methods using gene-specific primers are the gold standard for detection.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Glyphosate &amp; the EPSPS Target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286000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023360" cy="3840480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8C78"/>
                </a:solidFill>
              </a:rPr>
              <a:t>Mechanism of Glyphosate 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Glyphosate inhibits EPSPS — a key enzyme in the Shikimate Pathway that synthesizes aromatic amino acids (Phe, Tyr, Trp) essential for plant survival.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By blocking EPSPS, glyphosate shuts down amino acid production → plant death.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This pathway is absent in animals and humans, making glyphosate selectively toxic to plants.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14800" cy="1737360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8C78"/>
                </a:solidFill>
              </a:rPr>
              <a:t>CP4-EPSPS — The Resistance Gene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0876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Derived from Agrobacterium tumefaciens strain CP4 — a soil bacterium. Its Class II EPSPS enzyme has low glyphosate binding affinity, allowing transformed plants to survive herbicide exposure.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1005840" cy="1920240"/>
          </a:xfrm>
          <a:prstGeom prst="rect">
            <a:avLst/>
          </a:prstGeom>
          <a:solidFill>
            <a:srgbClr val="3D52A0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9718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</a:rPr>
              <a:t>Class II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703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EPSPS Type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96712" y="2880360"/>
            <a:ext cx="1005840" cy="1920240"/>
          </a:xfrm>
          <a:prstGeom prst="rect">
            <a:avLst/>
          </a:prstGeom>
          <a:solidFill>
            <a:srgbClr val="3D52A0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6712" y="29718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</a:rPr>
              <a:t>~1623 bp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96712" y="3703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Gene Size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29984" y="2880360"/>
            <a:ext cx="1005840" cy="1920240"/>
          </a:xfrm>
          <a:prstGeom prst="rect">
            <a:avLst/>
          </a:prstGeom>
          <a:solidFill>
            <a:srgbClr val="3D52A0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984" y="29718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</a:rPr>
              <a:t>Roundup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</a:rPr>
              <a:t>Ready®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29984" y="3703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Trade Name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63256" y="2880360"/>
            <a:ext cx="1005840" cy="1920240"/>
          </a:xfrm>
          <a:prstGeom prst="rect">
            <a:avLst/>
          </a:prstGeom>
          <a:solidFill>
            <a:srgbClr val="3D52A0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63256" y="29718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</a:rPr>
              <a:t>Soybean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4C430"/>
                </a:solidFill>
              </a:rPr>
              <a:t>Maize Cotton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63256" y="3703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</a:rPr>
              <a:t>Key Crops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18288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Detect CP4-EPSPS?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33A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Regulatory Compliance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Over 60 countries mandate GMO labeling. PCR-based detection is the legal standard for verifying GM presence in crops and food products.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18888" y="1207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33A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49240" y="11887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Food Safety Testing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57276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Food companies, importers, and testing labs use gene-specific primers to screen grain shipments, processed foods, and animal feed for GMO content.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95728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2505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33A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487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Trade &amp; Border Control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38912" y="2871216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Nations with GM import restrictions test incoming shipments at ports. Specific primers allow rapid, low-cost field-level detection.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2395728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18888" y="2505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33A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49240" y="2487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Breeding &amp; Research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2871216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Confirms transgene integration in new GM lines during crop development, backcrossing programs, and variety registration processes.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694176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33A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3785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Environmental Monitoring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" y="4169664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Tracks unintended gene flow from GM crops to wild relatives or non-GM cultivars in field-scale ecological studies.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3694176"/>
            <a:ext cx="425196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18888" y="3803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533A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349240" y="3785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Biosafety Assessment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73752" y="4169664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Regulatory risk assessments require reliable tools to confirm or deny the presence of specific transgenes in test environments.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18288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Objective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280160"/>
          </a:xfrm>
          <a:prstGeom prst="rect">
            <a:avLst/>
          </a:prstGeom>
          <a:solidFill>
            <a:srgbClr val="E8EFFF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82296" cy="12801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972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533A"/>
                </a:solidFill>
              </a:rPr>
              <a:t>Main Objective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</a:rPr>
              <a:t>To design and validate specific primers for the in silico detection of the glyphosate-resistant CP4-EPSPS transgene (AB209952.1) in Genetically Modified soybean (Glycine max) using freely available bioinformatics tools — NCBI, Primer3Plus, and Primer-BLAST.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Specific Objectives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44368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296265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Retrieve the CP4-EPSPS nucleotide sequence (AB209952.1) from NCBI GenBank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38144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38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" y="345643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Design gene-specific primers using Primer3Plus with optimized thermodynamic parameters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3950208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Validate primer specificity using NCBI Primer-BLAST against the Glycine max genome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425696"/>
            <a:ext cx="365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444398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</a:rPr>
              <a:t>Obtain a primer pair that exclusively amplifies the CP4-EPSPS transgene with zero off-target hits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Tools &amp; Methodology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2286000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2743200" cy="3840480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743200" cy="4572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C430"/>
                </a:solidFill>
              </a:rPr>
              <a:t>NCBI GenBank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9659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8C78"/>
                </a:solidFill>
              </a:rPr>
              <a:t>Sequence Retrieval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" y="2304288"/>
            <a:ext cx="2377440" cy="3657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› Access AB209952.1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28620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› Download FASTA format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3009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› Identify CP4-EPSPS CDS (1623 bp)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43434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A0"/>
                </a:solidFill>
              </a:rPr>
              <a:t>ncbi.nlm.nih.gov/nuccore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2880360"/>
            <a:ext cx="164592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005840"/>
            <a:ext cx="2743200" cy="3840480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005840"/>
            <a:ext cx="2743200" cy="4572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024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01568" y="15727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C430"/>
                </a:solidFill>
              </a:rPr>
              <a:t>Primer3Plus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401568" y="19659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8C78"/>
                </a:solidFill>
              </a:rPr>
              <a:t>Primer Design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01568" y="2304288"/>
            <a:ext cx="2377440" cy="3657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56432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› Paste nucleotide sequence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56432" y="28620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› Set Tm 57–63°C, GC 40–60%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56432" y="33009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› Product size 100–700 bp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43434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A0"/>
                </a:solidFill>
              </a:rPr>
              <a:t>primer3plus.com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164592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1005840"/>
            <a:ext cx="2743200" cy="3840480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005840"/>
            <a:ext cx="2743200" cy="4572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0241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STEP 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27648" y="15727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C430"/>
                </a:solidFill>
              </a:rPr>
              <a:t>Primer-BLAST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27648" y="196596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28C78"/>
                </a:solidFill>
              </a:rPr>
              <a:t>Specificity Validation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27648" y="2304288"/>
            <a:ext cx="2377440" cy="3657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› Enter Forward &amp; Reverse primers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82512" y="286207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› Organism: Glycine max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82512" y="330098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› Confirm zero off-target hits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27648" y="434340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D52A0"/>
                </a:solidFill>
              </a:rPr>
              <a:t>ncbi.nlm.nih.gov/tools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18288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1 — Sequence Retrieval from NCBI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solidFill>
            <a:srgbClr val="E8EFFF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C757D"/>
                </a:solidFill>
              </a:rPr>
              <a:t>Accession: </a:t>
            </a:r>
            <a:r>
              <a:rPr lang="en-US" sz="1150" b="1" dirty="0">
                <a:solidFill>
                  <a:srgbClr val="1E2761"/>
                </a:solidFill>
              </a:rPr>
              <a:t>AB209952.1  </a:t>
            </a:r>
            <a:r>
              <a:rPr lang="en-US" sz="1150" dirty="0">
                <a:solidFill>
                  <a:srgbClr val="1A1A2E"/>
                </a:solidFill>
              </a:rPr>
              <a:t>Glycine max transgenic cp4epsps gene — 5-enol-pyruvylshikimate-3-phosphate synthase class 2 precursor, complete cds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80136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How to Retrieve the Sequence: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31136"/>
            <a:ext cx="365760" cy="3657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31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223113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Go to NCBI Nucleotide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246120" y="2249424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</a:rPr>
              <a:t>https://www.ncbi.nlm.nih.gov/nuccore/AB209952.1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365760" cy="3657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2724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Load the GenBank Record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2743200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</a:rPr>
              <a:t>Page shows full annotation of CP4-EPSPS in soybean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218688"/>
            <a:ext cx="365760" cy="3657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" y="3218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Click "FASTA" format link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246120" y="323697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</a:rPr>
              <a:t>Located just below the accession number at the top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12464"/>
            <a:ext cx="365760" cy="3657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12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371246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Copy nucleotide sequence only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46120" y="3730752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</a:rPr>
              <a:t>Do not include the &gt;header line — only the A/T/G/C characters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206240"/>
            <a:ext cx="365760" cy="36576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" y="4206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</a:rPr>
              <a:t>Paste into Primer3Plus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46120" y="422452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</a:rPr>
              <a:t>Ready for primer design in the sequence input box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18288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2 — Primer Design in Primer3Plus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</a:rPr>
              <a:t>URL: www.primer3plus.com  ·  Target Field: 400,200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Main Settings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10312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Parameter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1691640"/>
            <a:ext cx="68580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169164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54680" y="1691640"/>
            <a:ext cx="68580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69164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840480" y="1691640"/>
            <a:ext cx="68580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169164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Max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093976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939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Primer Size (bp)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468880" y="2093976"/>
            <a:ext cx="685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0939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18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2093976"/>
            <a:ext cx="685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20939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20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840480" y="2093976"/>
            <a:ext cx="685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209397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24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2496312"/>
            <a:ext cx="210312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963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Primer Tm (°C)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468880" y="2496312"/>
            <a:ext cx="68580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249631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57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154680" y="2496312"/>
            <a:ext cx="68580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249631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60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40480" y="2496312"/>
            <a:ext cx="68580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249631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63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2898648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89864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GC Content (%)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468880" y="2898648"/>
            <a:ext cx="685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68880" y="289864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40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54680" y="2898648"/>
            <a:ext cx="685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4680" y="289864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50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840480" y="2898648"/>
            <a:ext cx="685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40480" y="289864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60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3300984"/>
            <a:ext cx="210312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30098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Product Size (bp)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468880" y="3300984"/>
            <a:ext cx="68580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3300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100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154680" y="3300984"/>
            <a:ext cx="68580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54680" y="3300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—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40480" y="3300984"/>
            <a:ext cx="68580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0" y="330098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700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365760" y="3703320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70332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Primers Returned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468880" y="3703320"/>
            <a:ext cx="685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68880" y="37033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—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154680" y="3703320"/>
            <a:ext cx="685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154680" y="37033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5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3840480" y="3703320"/>
            <a:ext cx="685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840480" y="37033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—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84632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Advanced Settings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4846320" y="1691640"/>
            <a:ext cx="256032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169164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Parameter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406640" y="1691640"/>
            <a:ext cx="1188720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06640" y="169164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Value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846320" y="2093976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209397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Max Self Complementarity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406640" y="2093976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06640" y="209397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8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46320" y="2496312"/>
            <a:ext cx="256032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249631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Max 3' Self Complementarity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7406640" y="2496312"/>
            <a:ext cx="118872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06640" y="24963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3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846320" y="2898648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46320" y="2898648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Max Poly-X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7406640" y="2898648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06640" y="289864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4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4846320" y="3300984"/>
            <a:ext cx="256032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0" y="33009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GC Clamp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406640" y="3300984"/>
            <a:ext cx="1188720" cy="402336"/>
          </a:xfrm>
          <a:prstGeom prst="rect">
            <a:avLst/>
          </a:prstGeom>
          <a:solidFill>
            <a:srgbClr val="E8E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06640" y="330098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1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4846320" y="3703320"/>
            <a:ext cx="25603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846320" y="370332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Salt Concentration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7406640" y="3703320"/>
            <a:ext cx="11887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06640" y="370332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2E"/>
                </a:solidFill>
              </a:rPr>
              <a:t>50 mM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365760" y="4553712"/>
            <a:ext cx="8412480" cy="384048"/>
          </a:xfrm>
          <a:prstGeom prst="rect">
            <a:avLst/>
          </a:prstGeom>
          <a:solidFill>
            <a:srgbClr val="1E2761">
              <a:alpha val="15000"/>
            </a:srgbClr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2920" y="45811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761"/>
                </a:solidFill>
              </a:rPr>
              <a:t>💡  After clicking Pick Primers → choose Pair 1 (best score) → validate in Primer-BLAST before accepting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Step 3 — Validation Using NCBI Primer-BLAST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2286000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046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</a:rPr>
              <a:t>URL: www.ncbi.nlm.nih.gov/tools/primer-blast/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</a:rPr>
              <a:t>Settings Entered in Primer-BLAST: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36192"/>
            <a:ext cx="2011680" cy="402336"/>
          </a:xfrm>
          <a:prstGeom prst="rect">
            <a:avLst/>
          </a:prstGeom>
          <a:solidFill>
            <a:srgbClr val="E8533A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3619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Field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77440" y="1536192"/>
            <a:ext cx="2103120" cy="402336"/>
          </a:xfrm>
          <a:prstGeom prst="rect">
            <a:avLst/>
          </a:prstGeom>
          <a:solidFill>
            <a:srgbClr val="E8533A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53619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Value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2011680" cy="402336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385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Forward Primer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77440" y="1938528"/>
            <a:ext cx="2103120" cy="402336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0" y="19385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GTCTACGATTTCGACAGCAC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340864"/>
            <a:ext cx="2011680" cy="40233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40864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Reverse Primer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377440" y="2340864"/>
            <a:ext cx="2103120" cy="40233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3408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GTCTCGACGGTAAGGTTG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743200"/>
            <a:ext cx="2011680" cy="402336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4320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PCR Product Min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377440" y="2743200"/>
            <a:ext cx="2103120" cy="402336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77440" y="27432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100 bp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145536"/>
            <a:ext cx="2011680" cy="40233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14553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PCR Product Max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77440" y="3145536"/>
            <a:ext cx="2103120" cy="40233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31455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500 bp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547872"/>
            <a:ext cx="2011680" cy="402336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54787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Organism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377440" y="3547872"/>
            <a:ext cx="2103120" cy="402336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35478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Glycine max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950208"/>
            <a:ext cx="2011680" cy="40233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5020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Database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77440" y="3950208"/>
            <a:ext cx="2103120" cy="402336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39502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nr (non-redundant)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1143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C430"/>
                </a:solidFill>
              </a:rPr>
              <a:t>Interpret Results: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846320" y="1554480"/>
            <a:ext cx="3931920" cy="420624"/>
          </a:xfrm>
          <a:prstGeom prst="rect">
            <a:avLst/>
          </a:prstGeom>
          <a:solidFill>
            <a:srgbClr val="0D4F2E"/>
          </a:solidFill>
          <a:ln w="12700">
            <a:solidFill>
              <a:srgbClr val="2D9F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572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Only 1 amplicon product found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2048256"/>
            <a:ext cx="3931920" cy="420624"/>
          </a:xfrm>
          <a:prstGeom prst="rect">
            <a:avLst/>
          </a:prstGeom>
          <a:solidFill>
            <a:srgbClr val="0D4F2E"/>
          </a:solidFill>
          <a:ln w="12700">
            <a:solidFill>
              <a:srgbClr val="2D9F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06654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Maps exclusively to AB209952.1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2542032"/>
            <a:ext cx="3931920" cy="420624"/>
          </a:xfrm>
          <a:prstGeom prst="rect">
            <a:avLst/>
          </a:prstGeom>
          <a:solidFill>
            <a:srgbClr val="0D4F2E"/>
          </a:solidFill>
          <a:ln w="12700">
            <a:solidFill>
              <a:srgbClr val="2D9F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5603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No hits on Glycine max chromosomes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846320" y="3035808"/>
            <a:ext cx="3931920" cy="420624"/>
          </a:xfrm>
          <a:prstGeom prst="rect">
            <a:avLst/>
          </a:prstGeom>
          <a:solidFill>
            <a:srgbClr val="0D4F2E"/>
          </a:solidFill>
          <a:ln w="12700">
            <a:solidFill>
              <a:srgbClr val="2D9F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05409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✅  Product size within 100–500 bp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529584"/>
            <a:ext cx="3931920" cy="420624"/>
          </a:xfrm>
          <a:prstGeom prst="rect">
            <a:avLst/>
          </a:prstGeom>
          <a:solidFill>
            <a:srgbClr val="5C1A1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37760" y="3547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❌  Off-target genomic hits found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46320" y="4023360"/>
            <a:ext cx="3931920" cy="420624"/>
          </a:xfrm>
          <a:prstGeom prst="rect">
            <a:avLst/>
          </a:prstGeom>
          <a:solidFill>
            <a:srgbClr val="5C1A1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40416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❌  Multiple products amplified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18288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Results — Final Validated Primer Pair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1874520"/>
          </a:xfrm>
          <a:prstGeom prst="rect">
            <a:avLst/>
          </a:prstGeom>
          <a:solidFill>
            <a:srgbClr val="1E2761"/>
          </a:solidFill>
          <a:ln w="12700">
            <a:solidFill>
              <a:srgbClr val="3D52A0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97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8C78"/>
                </a:solidFill>
              </a:rPr>
              <a:t>Forward Primer  (5'→3')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GTCTACGATTTCGACAGCAC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8C78"/>
                </a:solidFill>
              </a:rPr>
              <a:t>Reverse Primer  (5'→3')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08483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GTCTCGACGGTAAGGTTG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5760" y="3035808"/>
            <a:ext cx="13533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3035808"/>
            <a:ext cx="1353312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5468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320 bp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" y="374904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57D"/>
                </a:solidFill>
              </a:rPr>
              <a:t>Product Size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83080" y="3035808"/>
            <a:ext cx="13533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783080" y="3035808"/>
            <a:ext cx="1353312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315468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20 / 18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83080" y="374904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57D"/>
                </a:solidFill>
              </a:rPr>
              <a:t>Length (F/R)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3035808"/>
            <a:ext cx="13533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3035808"/>
            <a:ext cx="1353312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315468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56.67°C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0" y="374904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57D"/>
                </a:solidFill>
              </a:rPr>
              <a:t>Tm Forward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17720" y="3035808"/>
            <a:ext cx="13533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3035808"/>
            <a:ext cx="1353312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17720" y="315468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54.82°C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17720" y="374904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57D"/>
                </a:solidFill>
              </a:rPr>
              <a:t>Tm Reverse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3035808"/>
            <a:ext cx="13533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3035808"/>
            <a:ext cx="1353312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315468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50 / 55.6%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35040" y="374904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57D"/>
                </a:solidFill>
              </a:rPr>
              <a:t>GC% (F/R)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452360" y="3035808"/>
            <a:ext cx="135331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452360" y="3035808"/>
            <a:ext cx="1353312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3154680"/>
            <a:ext cx="13533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</a:rPr>
              <a:t>✅ None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452360" y="3749040"/>
            <a:ext cx="13533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57D"/>
                </a:solidFill>
              </a:rPr>
              <a:t>Off-targets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480560"/>
            <a:ext cx="84124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5079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Primer-BLAST Confirmed: Exclusively amplifies AB209952.1 — Zero off-target hits in Glycine max genome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3244C9-B99C-0EBF-5003-034EB9746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5248"/>
            <a:ext cx="9144000" cy="44682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2B8B21A-4DFF-B88F-BBF5-046B9DB36A2A}"/>
              </a:ext>
            </a:extLst>
          </p:cNvPr>
          <p:cNvSpPr txBox="1"/>
          <p:nvPr/>
        </p:nvSpPr>
        <p:spPr>
          <a:xfrm>
            <a:off x="70337" y="109025"/>
            <a:ext cx="26165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IN" sz="2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3881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156280-F2BD-77A9-E12B-2EC91A28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543"/>
            <a:ext cx="9144000" cy="462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318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C21A4B-1DFB-29B1-B29B-059B862EA8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1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C849F-A56F-C7D6-B7AC-06D4AF18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C2A829C2-0389-72A0-58FF-C59257DD0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9626"/>
            <a:ext cx="9144000" cy="347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19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D273DA-BAC1-A6D9-E07B-495D4534A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148"/>
            <a:ext cx="9144000" cy="384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74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Applications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64008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</a:rPr>
              <a:t>Where These Primers Can Be Used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206240" cy="1170432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64008" cy="117043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C430"/>
                </a:solidFill>
              </a:rPr>
              <a:t>GMO Crop Screening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Detect Roundup Ready traits in soybean, maize, cotton, and canola — the world's most widely grown GM crops.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206240" cy="1170432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1143000"/>
            <a:ext cx="64008" cy="117043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344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C430"/>
                </a:solidFill>
              </a:rPr>
              <a:t>Food &amp; Feed Testing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Regulatory labs screen imported grain, processed food, and livestock feed for unauthorized GM content.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41448"/>
            <a:ext cx="4206240" cy="1170432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41448"/>
            <a:ext cx="64008" cy="117043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5328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C430"/>
                </a:solidFill>
              </a:rPr>
              <a:t>Plant Breeding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289864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Confirm successful transgene integration in new GM events during backcrossing and line development.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441448"/>
            <a:ext cx="4206240" cy="1170432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441448"/>
            <a:ext cx="64008" cy="117043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53288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C430"/>
                </a:solidFill>
              </a:rPr>
              <a:t>Environmental Monitoring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2898648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Monitor gene flow and GM volunteer plants in ecological field studies.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39896"/>
            <a:ext cx="4206240" cy="1170432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739896"/>
            <a:ext cx="64008" cy="117043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83133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C430"/>
                </a:solidFill>
              </a:rPr>
              <a:t>Education &amp; Research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19709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Demonstrate molecular GMO detection in university and institutional molecular biology labs.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39896"/>
            <a:ext cx="4206240" cy="1170432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739896"/>
            <a:ext cx="64008" cy="1170432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83133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C430"/>
                </a:solidFill>
              </a:rPr>
              <a:t>Biosafety Compliance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37760" y="4197096"/>
            <a:ext cx="3886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Support risk assessments by confirming presence or absence of specific transgenes in regulated environments.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33A"/>
          </a:solidFill>
          <a:ln w="12700">
            <a:solidFill>
              <a:srgbClr val="E853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74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841248"/>
            <a:ext cx="8046720" cy="45720"/>
          </a:xfrm>
          <a:prstGeom prst="rect">
            <a:avLst/>
          </a:prstGeom>
          <a:solidFill>
            <a:srgbClr val="3D52A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8046720" cy="713232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960120"/>
            <a:ext cx="54864" cy="713232"/>
          </a:xfrm>
          <a:prstGeom prst="rect">
            <a:avLst/>
          </a:prstGeom>
          <a:solidFill>
            <a:srgbClr val="F28C78"/>
          </a:solidFill>
          <a:ln w="12700">
            <a:solidFill>
              <a:srgbClr val="F28C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05840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</a:rPr>
              <a:t>1.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98755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CP4-EPSPS sequence (AB209952.1) was retrieved from NCBI GenBank — the confirmed transgenic cp4epsps gene in Glycine max soybean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755648"/>
            <a:ext cx="8046720" cy="713232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1755648"/>
            <a:ext cx="54864" cy="713232"/>
          </a:xfrm>
          <a:prstGeom prst="rect">
            <a:avLst/>
          </a:prstGeom>
          <a:solidFill>
            <a:srgbClr val="F28C78"/>
          </a:solidFill>
          <a:ln w="12700">
            <a:solidFill>
              <a:srgbClr val="F28C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1801368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</a:rPr>
              <a:t>2.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178308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Primer3Plus was used with optimized parameters: Tm 57–63°C, GC 40–60%, product size 100–700 bp, with target region 400,200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551176"/>
            <a:ext cx="8046720" cy="713232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551176"/>
            <a:ext cx="54864" cy="713232"/>
          </a:xfrm>
          <a:prstGeom prst="rect">
            <a:avLst/>
          </a:prstGeom>
          <a:solidFill>
            <a:srgbClr val="F28C78"/>
          </a:solidFill>
          <a:ln w="12700">
            <a:solidFill>
              <a:srgbClr val="F28C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596896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</a:rPr>
              <a:t>3.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2578608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Final primers validated by Primer-BLAST — Forward: GTCTACGATTTCGACAGCAC · Reverse: GTCTCGACGGTAAGGTTG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346704"/>
            <a:ext cx="8046720" cy="713232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346704"/>
            <a:ext cx="54864" cy="713232"/>
          </a:xfrm>
          <a:prstGeom prst="rect">
            <a:avLst/>
          </a:prstGeom>
          <a:solidFill>
            <a:srgbClr val="F28C78"/>
          </a:solidFill>
          <a:ln w="12700">
            <a:solidFill>
              <a:srgbClr val="F28C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392424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</a:rPr>
              <a:t>4.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3374136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Product size: 320 bp | No off-target amplification in Glycine max genome — high specificity confirmed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142232"/>
            <a:ext cx="8046720" cy="713232"/>
          </a:xfrm>
          <a:prstGeom prst="rect">
            <a:avLst/>
          </a:prstGeom>
          <a:solidFill>
            <a:srgbClr val="2A3990"/>
          </a:solidFill>
          <a:ln w="12700">
            <a:solidFill>
              <a:srgbClr val="3D52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4142232"/>
            <a:ext cx="54864" cy="713232"/>
          </a:xfrm>
          <a:prstGeom prst="rect">
            <a:avLst/>
          </a:prstGeom>
          <a:solidFill>
            <a:srgbClr val="F28C78"/>
          </a:solidFill>
          <a:ln w="12700">
            <a:solidFill>
              <a:srgbClr val="F28C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187952"/>
            <a:ext cx="365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33A"/>
                </a:solidFill>
              </a:rPr>
              <a:t>5.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4169664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Primers are suitable for GMO detection, regulatory testing, and research applications in molecular biology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828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28C78"/>
                </a:solidFill>
              </a:rPr>
              <a:t>Thank You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482803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3D52A0"/>
                </a:solidFill>
              </a:rPr>
              <a:t>Primer Design Complete — In Silico  ·  AB209952.1  ·  Glycine max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1232</Words>
  <Application>Microsoft Office PowerPoint</Application>
  <PresentationFormat>On-screen Show (16:9)</PresentationFormat>
  <Paragraphs>241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CP4-EPSPS Primer Design — GM Crop Detection</dc:title>
  <dc:subject>PptxGenJS Presentation</dc:subject>
  <dc:creator>PptxGenJS</dc:creator>
  <cp:lastModifiedBy>manvithareddy1530@gmail.com</cp:lastModifiedBy>
  <cp:revision>3</cp:revision>
  <dcterms:created xsi:type="dcterms:W3CDTF">2026-04-22T04:25:55Z</dcterms:created>
  <dcterms:modified xsi:type="dcterms:W3CDTF">2026-04-28T05:04:30Z</dcterms:modified>
</cp:coreProperties>
</file>